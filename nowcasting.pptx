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5143500" cx="9144000"/>
  <p:notesSz cx="6858000" cy="9144000"/>
  <p:embeddedFontLst>
    <p:embeddedFont>
      <p:font typeface="Anton"/>
      <p:regular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803DC5-9E38-4509-BD79-62C57E87A996}">
  <a:tblStyle styleId="{6C803DC5-9E38-4509-BD79-62C57E87A99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Merriweather-regular.fntdata"/><Relationship Id="rId27" Type="http://schemas.openxmlformats.org/officeDocument/2006/relationships/font" Target="fonts/Anton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erriweather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9c287336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c9c287336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9c2873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c9c28733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c9c287336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c9c287336_4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c9c287336_4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c9c287336_4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ca39b503a_1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dca39b503a_1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ca39b503a_1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ca39b503a_1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dca39b503a_1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dca39b503a_1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ca39b503a_1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dca39b503a_1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ca39b503a_1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ca39b503a_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ca39b503a_7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ca39b503a_7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ca39b503a_7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ca39b503a_1_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dca39b503a_1_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ca39b503a_1_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ca39b503a_1_1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dca39b503a_1_1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dca39b503a_1_1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ca39b503a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dca39b503a_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ca39b503a_1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dca39b503a_1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dca39b503a_1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ca39b503a_1_1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dca39b503a_1_17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dca39b503a_1_17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ca39b503a_1_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dca39b503a_1_1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dca39b503a_1_1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ca39b503a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ca39b503a_7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c9c287336_2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dc9c287336_2_2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ca39b503a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dca39b503a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sl-inflation-nowcasting399.streamlit.ap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/>
        </p:nvSpPr>
        <p:spPr>
          <a:xfrm>
            <a:off x="242825" y="247650"/>
            <a:ext cx="6265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600" u="none" cap="none" strike="noStrike">
                <a:solidFill>
                  <a:srgbClr val="AFFA01"/>
                </a:solidFill>
                <a:latin typeface="Anton"/>
                <a:ea typeface="Anton"/>
                <a:cs typeface="Anton"/>
                <a:sym typeface="Anton"/>
              </a:rPr>
              <a:t>INFLATION NOWCASTING </a:t>
            </a:r>
            <a:endParaRPr sz="700"/>
          </a:p>
        </p:txBody>
      </p:sp>
      <p:sp>
        <p:nvSpPr>
          <p:cNvPr id="132" name="Google Shape;132;p27"/>
          <p:cNvSpPr txBox="1"/>
          <p:nvPr/>
        </p:nvSpPr>
        <p:spPr>
          <a:xfrm>
            <a:off x="230929" y="1276350"/>
            <a:ext cx="542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450"/>
              <a:buFont typeface="Calibri"/>
              <a:buNone/>
            </a:pPr>
            <a:r>
              <a:rPr b="1" lang="en" sz="1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 CPI prediction using high-frequency macro indicators</a:t>
            </a:r>
            <a:endParaRPr b="1" sz="14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242836" y="2884325"/>
            <a:ext cx="5167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TEAM MEMBERS </a:t>
            </a:r>
            <a:endParaRPr sz="700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Anfas Ahammed PP                       </a:t>
            </a:r>
            <a:endParaRPr sz="400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Muhammed Salman PM</a:t>
            </a:r>
            <a:endParaRPr sz="400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Srinikethan Suresh</a:t>
            </a:r>
            <a:endParaRPr sz="400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Sai Ganesh</a:t>
            </a:r>
            <a:endParaRPr sz="400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Krishnanunni</a:t>
            </a:r>
            <a:r>
              <a:rPr lang="en" sz="1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 U J </a:t>
            </a:r>
            <a:endParaRPr sz="1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34" name="Google Shape;1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0325" y="0"/>
            <a:ext cx="3323675" cy="500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/>
          <p:nvPr/>
        </p:nvSpPr>
        <p:spPr>
          <a:xfrm>
            <a:off x="562613" y="142763"/>
            <a:ext cx="7502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3077"/>
              <a:buFont typeface="Impact"/>
              <a:buNone/>
            </a:pPr>
            <a:r>
              <a:rPr b="1" i="0" lang="en" sz="2200" u="none" cap="none" strike="noStrike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W</a:t>
            </a:r>
            <a:r>
              <a:rPr b="1" lang="en" sz="2200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hat</a:t>
            </a:r>
            <a:r>
              <a:rPr b="1" i="0" lang="en" sz="2200" u="none" cap="none" strike="noStrike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b="1" lang="en" sz="2200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is</a:t>
            </a:r>
            <a:r>
              <a:rPr b="1" i="0" lang="en" sz="2200" u="none" cap="none" strike="noStrike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 I</a:t>
            </a:r>
            <a:r>
              <a:rPr b="1" lang="en" sz="2200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nflation</a:t>
            </a:r>
            <a:r>
              <a:rPr b="1" i="0" lang="en" sz="2200" u="none" cap="none" strike="noStrike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 N</a:t>
            </a:r>
            <a:r>
              <a:rPr b="1" lang="en" sz="2200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owcasting</a:t>
            </a:r>
            <a:r>
              <a:rPr b="1" i="0" lang="en" sz="2200" u="none" cap="none" strike="noStrike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?</a:t>
            </a:r>
            <a:endParaRPr i="0" sz="2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281263" y="883629"/>
            <a:ext cx="4970400" cy="1453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8"/>
          <p:cNvSpPr/>
          <p:nvPr/>
        </p:nvSpPr>
        <p:spPr>
          <a:xfrm>
            <a:off x="281263" y="883629"/>
            <a:ext cx="65400" cy="1453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/>
          <p:nvPr/>
        </p:nvSpPr>
        <p:spPr>
          <a:xfrm>
            <a:off x="562619" y="949279"/>
            <a:ext cx="4501500" cy="13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538"/>
              <a:buFont typeface="Calibri"/>
              <a:buNone/>
            </a:pPr>
            <a:r>
              <a:rPr b="1" i="0" lang="en" sz="1538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Nowcasting</a:t>
            </a:r>
            <a:r>
              <a:rPr b="0" i="0" lang="en" sz="15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1" lang="en" sz="1538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b="1" lang="en" sz="1538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r>
              <a:rPr b="1" i="1" lang="en" sz="1538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b="0" i="0" lang="en" sz="15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1" lang="en" sz="1538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b="1" lang="en" sz="1538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Forecasting</a:t>
            </a:r>
            <a:r>
              <a:rPr b="1" i="1" lang="en" sz="1538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Calibri"/>
              <a:buNone/>
            </a:pPr>
            <a:r>
              <a:t/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28"/>
              <a:buFont typeface="Calibri"/>
              <a:buNone/>
            </a:pPr>
            <a:r>
              <a:rPr b="0" i="0" lang="en" sz="1128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Estimating the current month's CPI before the BLS publishes it — by fusing high-frequency market signals (daily/weekly) with lagged economic indicators. The Cleveland Fed runs a production nowcaster updated every business day at 10 AM ET, using oil prices, gasoline prices, and past CPI/PCE readings.</a:t>
            </a:r>
            <a:endParaRPr b="0" i="0" sz="15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5486352" y="883629"/>
            <a:ext cx="3094800" cy="1453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/>
          <p:nvPr/>
        </p:nvSpPr>
        <p:spPr>
          <a:xfrm>
            <a:off x="5486352" y="883629"/>
            <a:ext cx="3094800" cy="37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/>
          <p:nvPr/>
        </p:nvSpPr>
        <p:spPr>
          <a:xfrm>
            <a:off x="5673923" y="1005550"/>
            <a:ext cx="2719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333"/>
              <a:buFont typeface="Impact"/>
              <a:buNone/>
            </a:pPr>
            <a:r>
              <a:rPr b="1" i="0" lang="en" sz="1333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THE INFORMATION GAP</a:t>
            </a:r>
            <a:endParaRPr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5720815" y="1418206"/>
            <a:ext cx="131400" cy="1314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/>
          <p:nvPr/>
        </p:nvSpPr>
        <p:spPr>
          <a:xfrm>
            <a:off x="5772397" y="1549506"/>
            <a:ext cx="27900" cy="1503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/>
          <p:nvPr/>
        </p:nvSpPr>
        <p:spPr>
          <a:xfrm>
            <a:off x="5983414" y="1380692"/>
            <a:ext cx="24384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6"/>
              <a:buFont typeface="Calibri"/>
              <a:buNone/>
            </a:pPr>
            <a:r>
              <a:rPr b="1" i="0" lang="en" sz="10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1–31</a:t>
            </a: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Month occurs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5720815" y="1699563"/>
            <a:ext cx="131400" cy="1314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5772397" y="1830863"/>
            <a:ext cx="27900" cy="1503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/>
          <p:nvPr/>
        </p:nvSpPr>
        <p:spPr>
          <a:xfrm>
            <a:off x="5983414" y="1662049"/>
            <a:ext cx="24384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6"/>
              <a:buFont typeface="Calibri"/>
              <a:buNone/>
            </a:pPr>
            <a:r>
              <a:rPr b="1" i="0" lang="en" sz="10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Feb ~14</a:t>
            </a: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BLS releases Jan CPI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5720815" y="1980919"/>
            <a:ext cx="131400" cy="131400"/>
          </a:xfrm>
          <a:prstGeom prst="ellipse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/>
          <p:nvPr/>
        </p:nvSpPr>
        <p:spPr>
          <a:xfrm>
            <a:off x="5983414" y="1943405"/>
            <a:ext cx="24384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026"/>
              <a:buFont typeface="Calibri"/>
              <a:buNone/>
            </a:pPr>
            <a:r>
              <a:rPr b="1" i="0" lang="en" sz="1025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Gap</a:t>
            </a: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2–4 weeks blind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281263" y="2571768"/>
            <a:ext cx="4267200" cy="1078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281263" y="2571768"/>
            <a:ext cx="4267200" cy="37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26" y="2759339"/>
            <a:ext cx="328249" cy="32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/>
          <p:nvPr/>
        </p:nvSpPr>
        <p:spPr>
          <a:xfrm>
            <a:off x="937760" y="2759339"/>
            <a:ext cx="32826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333"/>
              <a:buFont typeface="Impact"/>
              <a:buNone/>
            </a:pPr>
            <a:r>
              <a:rPr b="1" i="0" lang="en" sz="1333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WEEKLY SIGNALS (REAL-TIME)</a:t>
            </a:r>
            <a:endParaRPr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937760" y="3134481"/>
            <a:ext cx="33762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77"/>
              <a:buFont typeface="Calibri"/>
              <a:buNone/>
            </a:pPr>
            <a:r>
              <a:rPr b="0" i="0" lang="en" sz="1076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Oil Price, Gasoline Price, Natural Gas, 10Y &amp; 2Y Treasury Yields, Yield Spread, VIX, Corporate Spread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4782961" y="2571768"/>
            <a:ext cx="3798300" cy="1078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/>
          <p:nvPr/>
        </p:nvSpPr>
        <p:spPr>
          <a:xfrm>
            <a:off x="4782961" y="2571768"/>
            <a:ext cx="3798300" cy="37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425" y="2759339"/>
            <a:ext cx="328249" cy="32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/>
          <p:nvPr/>
        </p:nvSpPr>
        <p:spPr>
          <a:xfrm>
            <a:off x="5439459" y="2759339"/>
            <a:ext cx="29073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31"/>
              <a:buFont typeface="Impact"/>
              <a:buNone/>
            </a:pPr>
            <a:r>
              <a:rPr b="1" i="0" lang="en" sz="123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MONTHLY INDICATORS (LAGGED 1 MO.)</a:t>
            </a:r>
            <a:endParaRPr i="0" sz="12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5439459" y="3134481"/>
            <a:ext cx="29073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6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PPI, Unemployment, Copper, Wheat, Retail Sales, Industrial Prod., Fed Funds Rate, Housing Starts, Home Prices, Import Prices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81263" y="3884766"/>
            <a:ext cx="2673000" cy="1078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281263" y="3884766"/>
            <a:ext cx="2673000" cy="37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281263" y="3978551"/>
            <a:ext cx="26730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2256"/>
              <a:buFont typeface="Impact"/>
              <a:buNone/>
            </a:pPr>
            <a:r>
              <a:rPr b="1" i="0" lang="en" sz="225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2005–2026</a:t>
            </a:r>
            <a:endParaRPr i="0" sz="22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421941" y="4447479"/>
            <a:ext cx="23913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6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21 years of weekly data (1,100+ obs)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3235502" y="3884766"/>
            <a:ext cx="2673000" cy="1078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3235502" y="3884766"/>
            <a:ext cx="2673000" cy="37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/>
          <p:nvPr/>
        </p:nvSpPr>
        <p:spPr>
          <a:xfrm>
            <a:off x="3235502" y="3978551"/>
            <a:ext cx="26730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2256"/>
              <a:buFont typeface="Impact"/>
              <a:buNone/>
            </a:pPr>
            <a:r>
              <a:rPr b="1" i="0" lang="en" sz="225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i="0" sz="22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3376180" y="4447479"/>
            <a:ext cx="23913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6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Cleveland Fed updates its nowcast every business day at 10 AM ET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6189742" y="3884766"/>
            <a:ext cx="2673000" cy="1078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103" rotWithShape="0" algn="bl" dir="8100000" dist="26052">
              <a:srgbClr val="000000">
                <a:alpha val="25099"/>
              </a:srgbClr>
            </a:outerShdw>
          </a:effectLst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6189742" y="3884766"/>
            <a:ext cx="2673000" cy="37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75" lIns="93775" spcFirstLastPara="1" rIns="93775" wrap="square" tIns="9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6189742" y="3978551"/>
            <a:ext cx="26730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2256"/>
              <a:buFont typeface="Impact"/>
              <a:buNone/>
            </a:pPr>
            <a:r>
              <a:rPr b="1" i="0" lang="en" sz="225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&lt;1% MAPE</a:t>
            </a:r>
            <a:endParaRPr i="0" sz="22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6330420" y="4447479"/>
            <a:ext cx="23913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6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Our best model's prediction error — within 1 CPI point</a:t>
            </a:r>
            <a:endParaRPr b="0" i="0" sz="10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457200" y="695948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/>
          <p:nvPr/>
        </p:nvSpPr>
        <p:spPr>
          <a:xfrm>
            <a:off x="473675" y="127550"/>
            <a:ext cx="6615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3077"/>
              <a:buFont typeface="Impact"/>
              <a:buNone/>
            </a:pPr>
            <a:r>
              <a:rPr b="1" lang="en" sz="2200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Why nowcast inflation?</a:t>
            </a:r>
            <a:endParaRPr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302575" y="676952"/>
            <a:ext cx="81279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40"/>
              <a:buFont typeface="Calibri"/>
              <a:buNone/>
            </a:pPr>
            <a:r>
              <a:rPr b="1" lang="en" sz="12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CPI is the single most market-moving data release </a:t>
            </a:r>
            <a:r>
              <a:rPr b="1" lang="en" sz="12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b="1" lang="en" sz="12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whoever predicts it first has an asymmetric edge.</a:t>
            </a:r>
            <a:endParaRPr b="1" sz="124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302575" y="1310162"/>
            <a:ext cx="4016700" cy="1417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505" rotWithShape="0" algn="bl" dir="8100000" dist="26252">
              <a:srgbClr val="000000">
                <a:alpha val="25099"/>
              </a:srgbClr>
            </a:outerShdw>
          </a:effectLst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9"/>
          <p:cNvSpPr/>
          <p:nvPr/>
        </p:nvSpPr>
        <p:spPr>
          <a:xfrm>
            <a:off x="302575" y="1310162"/>
            <a:ext cx="66000" cy="1417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101" y="1470827"/>
            <a:ext cx="425289" cy="425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1153153" y="1376318"/>
            <a:ext cx="2929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2894"/>
              <a:buFont typeface="Impact"/>
              <a:buNone/>
            </a:pPr>
            <a:r>
              <a:rPr b="1" i="0" lang="en" sz="2893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$1.5 TRILLION</a:t>
            </a:r>
            <a:endParaRPr i="0" sz="2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1153153" y="1877215"/>
            <a:ext cx="29298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85"/>
              <a:buFont typeface="Calibri"/>
              <a:buNone/>
            </a:pPr>
            <a:r>
              <a:rPr b="0" i="0" lang="en" sz="108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 US TIPS outstanding — bonds whose principal adjusts directly with CPI. A 0.1% CPI surprise reprices billions in this market alone.</a:t>
            </a:r>
            <a:endParaRPr b="0" i="0" sz="10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4555463" y="1310162"/>
            <a:ext cx="4111200" cy="14175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505" rotWithShape="0" algn="bl" dir="8100000" dist="26252">
              <a:srgbClr val="000000">
                <a:alpha val="25099"/>
              </a:srgbClr>
            </a:outerShdw>
          </a:effectLst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>
            <a:off x="4555463" y="1310162"/>
            <a:ext cx="66000" cy="1417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8988" y="1470827"/>
            <a:ext cx="425289" cy="42528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5406040" y="1376318"/>
            <a:ext cx="3024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2894"/>
              <a:buFont typeface="Impact"/>
              <a:buNone/>
            </a:pPr>
            <a:r>
              <a:rPr b="1" i="0" lang="en" sz="2893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$15.4 BILLION</a:t>
            </a:r>
            <a:endParaRPr i="0" sz="28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5406040" y="1877215"/>
            <a:ext cx="30243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85"/>
              <a:buFont typeface="Calibri"/>
              <a:buNone/>
            </a:pPr>
            <a:r>
              <a:rPr b="0" i="0" lang="en" sz="108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spent by investment firms on alternative data in 2025 (Neudata). Inflation nowcasting datasets are among the highest-demand products.</a:t>
            </a:r>
            <a:endParaRPr b="0" i="0" sz="10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302575" y="3011322"/>
            <a:ext cx="2693700" cy="18903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505" rotWithShape="0" algn="bl" dir="8100000" dist="26252">
              <a:srgbClr val="000000">
                <a:alpha val="25099"/>
              </a:srgbClr>
            </a:outerShdw>
          </a:effectLst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"/>
          <p:cNvSpPr/>
          <p:nvPr/>
        </p:nvSpPr>
        <p:spPr>
          <a:xfrm>
            <a:off x="302575" y="3011322"/>
            <a:ext cx="2693700" cy="378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592" y="3200340"/>
            <a:ext cx="330780" cy="33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/>
          <p:nvPr/>
        </p:nvSpPr>
        <p:spPr>
          <a:xfrm>
            <a:off x="916881" y="3200340"/>
            <a:ext cx="189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137"/>
              <a:buFont typeface="Impact"/>
              <a:buNone/>
            </a:pPr>
            <a:r>
              <a:rPr b="1" i="0" lang="en" sz="113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THE DATA LAG PROBLEM</a:t>
            </a:r>
            <a:endParaRPr i="0" sz="11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491592" y="3720139"/>
            <a:ext cx="23157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85"/>
              <a:buFont typeface="Calibri"/>
              <a:buNone/>
            </a:pPr>
            <a:r>
              <a:rPr b="0" i="0" lang="en" sz="108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CPI is released 2–4 weeks after month-end. Hedge funds can't wait — decisions on rate-sensitive positions worth billions are made in that window using stale data.</a:t>
            </a:r>
            <a:endParaRPr b="0" i="0" sz="10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3279596" y="3011322"/>
            <a:ext cx="2693700" cy="18903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505" rotWithShape="0" algn="bl" dir="8100000" dist="26252">
              <a:srgbClr val="000000">
                <a:alpha val="25099"/>
              </a:srgbClr>
            </a:outerShdw>
          </a:effectLst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3279596" y="3011322"/>
            <a:ext cx="2693700" cy="37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8613" y="3200340"/>
            <a:ext cx="330780" cy="330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/>
          <p:nvPr/>
        </p:nvSpPr>
        <p:spPr>
          <a:xfrm>
            <a:off x="3893902" y="3200340"/>
            <a:ext cx="189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137"/>
              <a:buFont typeface="Impact"/>
              <a:buNone/>
            </a:pPr>
            <a:r>
              <a:rPr b="1" i="0" lang="en" sz="113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FED POLICY &amp; BOND MARKETS</a:t>
            </a:r>
            <a:endParaRPr i="0" sz="11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3468613" y="3720139"/>
            <a:ext cx="23157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85"/>
              <a:buFont typeface="Calibri"/>
              <a:buNone/>
            </a:pPr>
            <a:r>
              <a:rPr b="0" i="0" lang="en" sz="108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0.1% CPI miss can move Treasury yields 5–10 basis points intraday. With the 10Y at ~4%, that reprices trillions in global bond portfolios within minutes.</a:t>
            </a:r>
            <a:endParaRPr b="0" i="0" sz="10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6256618" y="3011322"/>
            <a:ext cx="2693700" cy="18903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505" rotWithShape="0" algn="bl" dir="8100000" dist="26252">
              <a:srgbClr val="000000">
                <a:alpha val="25099"/>
              </a:srgbClr>
            </a:outerShdw>
          </a:effectLst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256618" y="3011322"/>
            <a:ext cx="2693700" cy="378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5635" y="3200340"/>
            <a:ext cx="330780" cy="330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/>
          <p:nvPr/>
        </p:nvSpPr>
        <p:spPr>
          <a:xfrm>
            <a:off x="6870924" y="3200340"/>
            <a:ext cx="189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137"/>
              <a:buFont typeface="Impact"/>
              <a:buNone/>
            </a:pPr>
            <a:r>
              <a:rPr b="1" i="0" lang="en" sz="113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HEDGE FUND ALPHA RACE</a:t>
            </a:r>
            <a:endParaRPr i="0" sz="11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6445635" y="3720139"/>
            <a:ext cx="23157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85"/>
              <a:buFont typeface="Calibri"/>
              <a:buNone/>
            </a:pPr>
            <a:r>
              <a:rPr b="0" i="0" lang="en" sz="108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Large multi-strategy funds spend $5M+/year on 43 data vendors (Neudata). 95% plan to increase budgets. Whoever reads inflation first trades before the crowd.</a:t>
            </a:r>
            <a:endParaRPr b="0" i="0" sz="108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473675" y="648398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423150" y="227788"/>
            <a:ext cx="6563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3076"/>
              <a:buFont typeface="Impact"/>
              <a:buNone/>
            </a:pPr>
            <a:r>
              <a:rPr b="1" lang="en" sz="2200">
                <a:solidFill>
                  <a:srgbClr val="BFFF00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 Overview</a:t>
            </a:r>
            <a:endParaRPr i="0" sz="22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423150" y="930973"/>
            <a:ext cx="3281400" cy="30003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088" rotWithShape="0" algn="bl" dir="8100000" dist="26044">
              <a:srgbClr val="000000">
                <a:alpha val="25099"/>
              </a:srgbClr>
            </a:outerShdw>
          </a:effectLst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>
            <a:off x="423150" y="930973"/>
            <a:ext cx="65400" cy="30003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545" y="1024731"/>
            <a:ext cx="328154" cy="3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/>
          <p:nvPr/>
        </p:nvSpPr>
        <p:spPr>
          <a:xfrm>
            <a:off x="1079456" y="1024731"/>
            <a:ext cx="23439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435"/>
              <a:buFont typeface="Impact"/>
              <a:buNone/>
            </a:pPr>
            <a:r>
              <a:rPr b="1" i="0" lang="en" sz="1435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DATA &amp; TARGET DESIGN</a:t>
            </a:r>
            <a:endParaRPr i="0" sz="14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657550" y="1446650"/>
            <a:ext cx="2993700" cy="23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128"/>
              <a:buFont typeface="Calibri"/>
              <a:buNone/>
            </a:pPr>
            <a:r>
              <a:rPr b="1" i="0" lang="en" sz="1127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" sz="1127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CPI monthly change (</a:t>
            </a:r>
            <a:r>
              <a:rPr b="1" i="0" lang="en" sz="1127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ΔCPI</a:t>
            </a:r>
            <a:r>
              <a:rPr b="0" i="0" lang="en" sz="1127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" sz="1127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" sz="1127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not level.</a:t>
            </a:r>
            <a:endParaRPr b="0" i="0" sz="11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28"/>
              <a:buFont typeface="Calibri"/>
              <a:buNone/>
            </a:pPr>
            <a:r>
              <a:rPr b="0" i="0" lang="en" sz="1127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Predicting the change makes the target stationary and dramatically improves regression accuracy.</a:t>
            </a:r>
            <a:endParaRPr b="0" i="0" sz="11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"/>
              <a:buFont typeface="Calibri"/>
              <a:buNone/>
            </a:pPr>
            <a:br>
              <a:rPr b="0" i="0" lang="en" sz="61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07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Train: </a:t>
            </a:r>
            <a:r>
              <a:rPr b="0" i="0" lang="en" sz="1076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Jan 2005 – Apr 2023 (952 weeks)</a:t>
            </a:r>
            <a:endParaRPr b="0" i="0" sz="11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077"/>
              <a:buFont typeface="Calibri"/>
              <a:buNone/>
            </a:pPr>
            <a:r>
              <a:rPr b="1" i="0" lang="en" sz="107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Test:  </a:t>
            </a:r>
            <a:r>
              <a:rPr b="0" i="0" lang="en" sz="1076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May 2023 – Mar 2026 (151 weeks)</a:t>
            </a:r>
            <a:endParaRPr b="0" i="0" sz="11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"/>
              <a:buFont typeface="Calibri"/>
              <a:buNone/>
            </a:pPr>
            <a:br>
              <a:rPr b="0" i="0" lang="en" sz="61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07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Leakage prevention:</a:t>
            </a:r>
            <a:br>
              <a:rPr b="1" i="0" lang="en" sz="107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76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Monthly vars (PPI, unemployment, etc.) are shifted back 1 month. For May CPI, we only see April's monthly indicators — exactly what's available in practice. Weekly vars used as-is (real-time).</a:t>
            </a:r>
            <a:endParaRPr b="0" i="0" sz="11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3985950" y="930975"/>
            <a:ext cx="4734600" cy="15309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088" rotWithShape="0" algn="bl" dir="8100000" dist="26044">
              <a:srgbClr val="000000">
                <a:alpha val="25099"/>
              </a:srgbClr>
            </a:outerShdw>
          </a:effectLst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3985956" y="930973"/>
            <a:ext cx="4734600" cy="37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0351" y="1071610"/>
            <a:ext cx="328154" cy="3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/>
          <p:nvPr/>
        </p:nvSpPr>
        <p:spPr>
          <a:xfrm>
            <a:off x="4642263" y="1071610"/>
            <a:ext cx="2812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435"/>
              <a:buFont typeface="Impact"/>
              <a:buNone/>
            </a:pPr>
            <a:r>
              <a:rPr b="1" i="0" lang="en" sz="1435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REGRESSION MODELS </a:t>
            </a:r>
            <a:endParaRPr i="0" sz="14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4220351" y="1418442"/>
            <a:ext cx="4266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077"/>
              <a:buFont typeface="Calibri"/>
              <a:buNone/>
            </a:pPr>
            <a:r>
              <a:rPr b="1" i="0" lang="en" sz="107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Linear, Ridge, LASSO, ElasticNet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5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Regularised linear models — test if CPI change is a linear function of macro features. LASSO doubles as feature selector.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"/>
              <a:buFont typeface="Calibri"/>
              <a:buNone/>
            </a:pPr>
            <a:br>
              <a:rPr b="0" i="0" lang="en" sz="41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077"/>
              <a:buFont typeface="Calibri"/>
              <a:buNone/>
            </a:pPr>
            <a:r>
              <a:rPr b="1" i="0" lang="en" sz="1076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Decision Tree, Random Forest, Gradient Boosting,</a:t>
            </a:r>
            <a:r>
              <a:rPr b="1" lang="en" sz="1076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 NG-Boost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5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Capture </a:t>
            </a:r>
            <a:r>
              <a:rPr lang="en" sz="1025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nonlinear</a:t>
            </a: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interactions and regime effects between variables.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3985956" y="2524859"/>
            <a:ext cx="4734600" cy="140640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2088" rotWithShape="0" algn="bl" dir="8100000" dist="26044">
              <a:srgbClr val="000000">
                <a:alpha val="25099"/>
              </a:srgbClr>
            </a:outerShdw>
          </a:effectLst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3985956" y="2524859"/>
            <a:ext cx="4734600" cy="375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0351" y="2665496"/>
            <a:ext cx="328154" cy="3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/>
          <p:nvPr/>
        </p:nvSpPr>
        <p:spPr>
          <a:xfrm>
            <a:off x="4642263" y="2665496"/>
            <a:ext cx="2812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35"/>
              <a:buFont typeface="Impact"/>
              <a:buNone/>
            </a:pPr>
            <a:r>
              <a:rPr b="1" i="0" lang="en" sz="1435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TIME SERIES MODELS (3)</a:t>
            </a:r>
            <a:endParaRPr i="0" sz="143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4220351" y="3040528"/>
            <a:ext cx="4266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077"/>
              <a:buFont typeface="Calibri"/>
              <a:buNone/>
            </a:pPr>
            <a:r>
              <a:rPr b="1" i="0" lang="en" sz="107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ARIMA(p,1,0)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25"/>
              <a:buFont typeface="Calibri"/>
              <a:buNone/>
            </a:pP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Pure autoregressive — uses only CPI's own history. Captures momentum/trend.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077"/>
              <a:buFont typeface="Calibri"/>
              <a:buNone/>
            </a:pPr>
            <a:r>
              <a:rPr b="1" i="0" lang="en" sz="107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ARIMAX</a:t>
            </a: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— AR dynamics + exogenous macro regressors. The hybrid approach.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077"/>
              <a:buFont typeface="Calibri"/>
              <a:buNone/>
            </a:pPr>
            <a:r>
              <a:rPr b="1" i="0" lang="en" sz="1076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LSTM (RNN)</a:t>
            </a:r>
            <a:r>
              <a:rPr b="0" i="0" lang="en" sz="1025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— Neural network on monthly CPI sequences. Tests non-linear temporal dependencies.</a:t>
            </a:r>
            <a:endParaRPr b="0" i="0" sz="10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23150" y="4212503"/>
            <a:ext cx="8297700" cy="7032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423150" y="4212503"/>
            <a:ext cx="8297700" cy="37500"/>
          </a:xfrm>
          <a:prstGeom prst="rect">
            <a:avLst/>
          </a:prstGeom>
          <a:solidFill>
            <a:srgbClr val="BFFF00"/>
          </a:solidFill>
          <a:ln>
            <a:noFill/>
          </a:ln>
        </p:spPr>
        <p:txBody>
          <a:bodyPr anchorCtr="0" anchor="ctr" bIns="93750" lIns="93750" spcFirstLastPara="1" rIns="93750" wrap="square" tIns="9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>
            <a:off x="704424" y="4259382"/>
            <a:ext cx="7781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FF00"/>
              </a:buClr>
              <a:buSzPts val="1282"/>
              <a:buFont typeface="Calibri"/>
              <a:buNone/>
            </a:pPr>
            <a:r>
              <a:rPr b="1" i="0" lang="en" sz="1281" u="none" cap="none" strike="noStrike">
                <a:solidFill>
                  <a:srgbClr val="BFFF00"/>
                </a:solidFill>
                <a:latin typeface="Calibri"/>
                <a:ea typeface="Calibri"/>
                <a:cs typeface="Calibri"/>
                <a:sym typeface="Calibri"/>
              </a:rPr>
              <a:t>CORE QUESTION:  </a:t>
            </a:r>
            <a:r>
              <a:rPr b="0" i="0" lang="en" sz="123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Can cross-sectional macro features (regression) beat CPI's own autoregressive dynamics (time series)?  Evaluated on </a:t>
            </a:r>
            <a:r>
              <a:rPr b="1" i="0" lang="en" sz="123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RMSE,</a:t>
            </a:r>
            <a:r>
              <a:rPr lang="en" sz="123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Adj R²</a:t>
            </a:r>
            <a:r>
              <a:rPr b="1" i="0" lang="en" sz="123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, and MAPE</a:t>
            </a:r>
            <a:r>
              <a:rPr b="0" i="0" lang="en" sz="123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over 3 years of unseen data.</a:t>
            </a:r>
            <a:endParaRPr b="0" i="0" sz="12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457200" y="743198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/>
          <p:nvPr/>
        </p:nvSpPr>
        <p:spPr>
          <a:xfrm>
            <a:off x="457200" y="3657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3200"/>
              <a:buFont typeface="Arial Black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457200" y="329250"/>
            <a:ext cx="85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Data Extraction &amp;  Feature Engg.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457200" y="818336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457200" y="1042345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Building a real</a:t>
            </a: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CPI prediction system from market signals</a:t>
            </a:r>
            <a:endParaRPr b="1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457200" y="1325880"/>
            <a:ext cx="4023360" cy="32004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" sz="16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ATA SOURCE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640080" y="1783080"/>
            <a:ext cx="3657600" cy="18288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731520" y="19202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2194560" y="192024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Federal Reserve Economic Data (FRED)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731520" y="22128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Period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2194560" y="221284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January 2005 - March 2026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731520" y="250545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2194560" y="250545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21 years of weekly data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731520" y="279806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2194560" y="279806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1,107 weekly data points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731520" y="309067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2194560" y="30906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956 weeks (86%)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731520" y="33832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2194560" y="33832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151 weeks (14%)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731520" y="36758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2194560" y="367588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Weekly granularity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4663440" y="1325880"/>
            <a:ext cx="4023360" cy="32004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19 PREDICTOR VARIABLES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4846320" y="1783080"/>
            <a:ext cx="3657600" cy="18288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/>
          <p:nvPr/>
        </p:nvSpPr>
        <p:spPr>
          <a:xfrm>
            <a:off x="4846320" y="1920240"/>
            <a:ext cx="3657600" cy="11887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4983480" y="201168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8 WEEKLY VARIABLES (Real-time)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/>
          <p:nvPr/>
        </p:nvSpPr>
        <p:spPr>
          <a:xfrm>
            <a:off x="4983480" y="22860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Prices: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Oil, Gasoline, Natural Gas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Indicators: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Treasury 10Y, 2Y, Yield Spread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Volatility: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VIX, Corporate Spread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4846320" y="3200400"/>
            <a:ext cx="3657600" cy="11887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/>
          <p:nvPr/>
        </p:nvSpPr>
        <p:spPr>
          <a:xfrm>
            <a:off x="4983480" y="32918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10 MONTHLY VARIABLES (Lagged 1 month)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1"/>
          <p:cNvSpPr/>
          <p:nvPr/>
        </p:nvSpPr>
        <p:spPr>
          <a:xfrm>
            <a:off x="4983480" y="35661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Economic: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PPI, Unemployment, Fed Funds Rate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Commodities: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Copper, Wheat, Import Prices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Activity: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Retail Sales, Industrial Production, Housing, Home Prices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1"/>
          <p:cNvSpPr/>
          <p:nvPr/>
        </p:nvSpPr>
        <p:spPr>
          <a:xfrm>
            <a:off x="457200" y="4617720"/>
            <a:ext cx="8229600" cy="27432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KEY RATIONALE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592505" y="4873748"/>
            <a:ext cx="2651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▸ Weekly data captures immediate price pressures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3381425" y="4873748"/>
            <a:ext cx="2651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▸ Monthly lag prevents data leakage (real nowcasting)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6170345" y="4873748"/>
            <a:ext cx="2651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▸ Target = CPI change (ΔCPI) for stationarity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/>
          <p:nvPr/>
        </p:nvSpPr>
        <p:spPr>
          <a:xfrm>
            <a:off x="457200" y="36576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3200"/>
              <a:buFont typeface="Arial Black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457200" y="329250"/>
            <a:ext cx="85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457200" y="818336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2570400" y="2186400"/>
            <a:ext cx="40032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EDA</a:t>
            </a:r>
            <a:endParaRPr b="1" sz="2400">
              <a:solidFill>
                <a:srgbClr val="AFFA0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/>
          <p:nvPr/>
        </p:nvSpPr>
        <p:spPr>
          <a:xfrm>
            <a:off x="457200" y="3657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3200"/>
              <a:buFont typeface="Arial Black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457190" y="17728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Time Series Analysis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9" name="Google Shape;289;p33"/>
          <p:cNvSpPr/>
          <p:nvPr/>
        </p:nvSpPr>
        <p:spPr>
          <a:xfrm>
            <a:off x="388625" y="556688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/>
          <p:nvPr/>
        </p:nvSpPr>
        <p:spPr>
          <a:xfrm>
            <a:off x="457200" y="5977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Uncovering hidden patterns, causality, and economic regime changes</a:t>
            </a:r>
            <a:endParaRPr b="1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457200" y="907662"/>
            <a:ext cx="8229600" cy="8718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"/>
          <p:cNvSpPr/>
          <p:nvPr/>
        </p:nvSpPr>
        <p:spPr>
          <a:xfrm>
            <a:off x="640080" y="1038447"/>
            <a:ext cx="78639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1  STL DECOMPOSITION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640080" y="1300017"/>
            <a:ext cx="78639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Seasonal-Trend decomposition using Loess → Separates time series into Trend + Seasonal + Residual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640080" y="1517992"/>
            <a:ext cx="78639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Applied to: </a:t>
            </a: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CPI, Oil, Gasoline, VIX  |  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Period: </a:t>
            </a: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52 weeks  |  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0" i="0" lang="en" sz="9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15+ temporal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457200" y="1913346"/>
            <a:ext cx="8229600" cy="18522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>
            <a:off x="640080" y="2050518"/>
            <a:ext cx="786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2  GRANGER CAUSALITY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3249653" y="2082975"/>
            <a:ext cx="3548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Tests: Do past values of X help predict future CPI beyond CPI's own history?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8" name="Google Shape;298;p33"/>
          <p:cNvGraphicFramePr/>
          <p:nvPr/>
        </p:nvGraphicFramePr>
        <p:xfrm>
          <a:off x="640080" y="2338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{6C803DC5-9E38-4509-BD79-62C57E87A996}</a:tableStyleId>
              </a:tblPr>
              <a:tblGrid>
                <a:gridCol w="1931675"/>
                <a:gridCol w="1931675"/>
                <a:gridCol w="1931675"/>
                <a:gridCol w="2068825"/>
              </a:tblGrid>
              <a:tr h="83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Lag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p-value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Significant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Oil Price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wks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0.0001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Gasoline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wks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0.0001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Treasury 10Y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wks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0.0001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Treasury 2Y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wks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0.0001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Natural Gas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wk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0.0274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p33"/>
          <p:cNvSpPr/>
          <p:nvPr/>
        </p:nvSpPr>
        <p:spPr>
          <a:xfrm>
            <a:off x="457200" y="3899450"/>
            <a:ext cx="8229600" cy="1037400"/>
          </a:xfrm>
          <a:prstGeom prst="rect">
            <a:avLst/>
          </a:prstGeom>
          <a:solidFill>
            <a:srgbClr val="2D2D2D"/>
          </a:solidFill>
          <a:ln cap="flat" cmpd="sng" w="23075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75" lIns="82975" spcFirstLastPara="1" rIns="82975" wrap="square" tIns="8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/>
          <p:nvPr/>
        </p:nvSpPr>
        <p:spPr>
          <a:xfrm>
            <a:off x="640079" y="3974269"/>
            <a:ext cx="78639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71"/>
              <a:buFont typeface="Calibri"/>
              <a:buNone/>
            </a:pPr>
            <a:r>
              <a:rPr b="1" i="0" lang="en" sz="127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3  STRUCTURAL BREAK DETECTION (PELT Algorithm)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640079" y="4314409"/>
            <a:ext cx="1874400" cy="456300"/>
          </a:xfrm>
          <a:prstGeom prst="rect">
            <a:avLst/>
          </a:prstGeom>
          <a:solidFill>
            <a:srgbClr val="4D4D4D"/>
          </a:solidFill>
          <a:ln cap="flat" cmpd="sng" w="11525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75" lIns="82975" spcFirstLastPara="1" rIns="82975" wrap="square" tIns="8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3"/>
          <p:cNvSpPr/>
          <p:nvPr/>
        </p:nvSpPr>
        <p:spPr>
          <a:xfrm>
            <a:off x="731518" y="4380803"/>
            <a:ext cx="1691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71"/>
              <a:buFont typeface="Calibri"/>
              <a:buNone/>
            </a:pPr>
            <a:r>
              <a:rPr b="1" i="0" lang="en" sz="127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2008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731518" y="4579983"/>
            <a:ext cx="1691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17"/>
              <a:buFont typeface="Calibri"/>
              <a:buNone/>
            </a:pPr>
            <a:r>
              <a:rPr b="0" i="0" lang="en" sz="816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Financial Crisis</a:t>
            </a:r>
            <a:endParaRPr b="0" i="0" sz="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2606026" y="4314409"/>
            <a:ext cx="1874400" cy="456300"/>
          </a:xfrm>
          <a:prstGeom prst="rect">
            <a:avLst/>
          </a:prstGeom>
          <a:solidFill>
            <a:srgbClr val="4D4D4D"/>
          </a:solidFill>
          <a:ln cap="flat" cmpd="sng" w="11525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75" lIns="82975" spcFirstLastPara="1" rIns="82975" wrap="square" tIns="8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2697465" y="4380803"/>
            <a:ext cx="1691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71"/>
              <a:buFont typeface="Calibri"/>
              <a:buNone/>
            </a:pPr>
            <a:r>
              <a:rPr b="1" i="0" lang="en" sz="127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2697465" y="4579983"/>
            <a:ext cx="1691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17"/>
              <a:buFont typeface="Calibri"/>
              <a:buNone/>
            </a:pPr>
            <a:r>
              <a:rPr b="0" i="0" lang="en" sz="816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Oil Collapse</a:t>
            </a:r>
            <a:endParaRPr b="0" i="0" sz="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4571972" y="4314409"/>
            <a:ext cx="1874400" cy="456300"/>
          </a:xfrm>
          <a:prstGeom prst="rect">
            <a:avLst/>
          </a:prstGeom>
          <a:solidFill>
            <a:srgbClr val="4D4D4D"/>
          </a:solidFill>
          <a:ln cap="flat" cmpd="sng" w="11525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75" lIns="82975" spcFirstLastPara="1" rIns="82975" wrap="square" tIns="8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3"/>
          <p:cNvSpPr/>
          <p:nvPr/>
        </p:nvSpPr>
        <p:spPr>
          <a:xfrm>
            <a:off x="4663412" y="4380803"/>
            <a:ext cx="1691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71"/>
              <a:buFont typeface="Calibri"/>
              <a:buNone/>
            </a:pPr>
            <a:r>
              <a:rPr b="1" i="0" lang="en" sz="127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4663412" y="4579983"/>
            <a:ext cx="1691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17"/>
              <a:buFont typeface="Calibri"/>
              <a:buNone/>
            </a:pPr>
            <a:r>
              <a:rPr b="0" i="0" lang="en" sz="816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COVID-19</a:t>
            </a:r>
            <a:endParaRPr b="0" i="0" sz="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6537919" y="4314409"/>
            <a:ext cx="1874400" cy="456300"/>
          </a:xfrm>
          <a:prstGeom prst="rect">
            <a:avLst/>
          </a:prstGeom>
          <a:solidFill>
            <a:srgbClr val="4D4D4D"/>
          </a:solidFill>
          <a:ln cap="flat" cmpd="sng" w="11525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75" lIns="82975" spcFirstLastPara="1" rIns="82975" wrap="square" tIns="8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6629359" y="4380803"/>
            <a:ext cx="1691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71"/>
              <a:buFont typeface="Calibri"/>
              <a:buNone/>
            </a:pPr>
            <a:r>
              <a:rPr b="1" i="0" lang="en" sz="127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6629359" y="4579983"/>
            <a:ext cx="16917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17"/>
              <a:buFont typeface="Calibri"/>
              <a:buNone/>
            </a:pPr>
            <a:r>
              <a:rPr b="0" i="0" lang="en" sz="816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Recovery</a:t>
            </a:r>
            <a:endParaRPr b="0" i="0" sz="8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1134901" y="4978125"/>
            <a:ext cx="6325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 Regime indicators added as binary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/>
        </p:nvSpPr>
        <p:spPr>
          <a:xfrm>
            <a:off x="242836" y="309563"/>
            <a:ext cx="95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9" name="Google Shape;319;p34"/>
          <p:cNvSpPr txBox="1"/>
          <p:nvPr/>
        </p:nvSpPr>
        <p:spPr>
          <a:xfrm>
            <a:off x="2925948" y="283238"/>
            <a:ext cx="83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0" name="Google Shape;320;p34"/>
          <p:cNvSpPr txBox="1"/>
          <p:nvPr/>
        </p:nvSpPr>
        <p:spPr>
          <a:xfrm>
            <a:off x="3894172" y="283238"/>
            <a:ext cx="109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1" name="Google Shape;321;p34"/>
          <p:cNvSpPr txBox="1"/>
          <p:nvPr/>
        </p:nvSpPr>
        <p:spPr>
          <a:xfrm>
            <a:off x="5144026" y="283238"/>
            <a:ext cx="106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2" name="Google Shape;322;p34"/>
          <p:cNvSpPr txBox="1"/>
          <p:nvPr/>
        </p:nvSpPr>
        <p:spPr>
          <a:xfrm>
            <a:off x="148572" y="639313"/>
            <a:ext cx="736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23" name="Google Shape;323;p34"/>
          <p:cNvSpPr txBox="1"/>
          <p:nvPr/>
        </p:nvSpPr>
        <p:spPr>
          <a:xfrm>
            <a:off x="242836" y="4610100"/>
            <a:ext cx="261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324" name="Google Shape;3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75" y="152400"/>
            <a:ext cx="801014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/>
        </p:nvSpPr>
        <p:spPr>
          <a:xfrm>
            <a:off x="242836" y="309563"/>
            <a:ext cx="95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0" name="Google Shape;330;p35"/>
          <p:cNvSpPr txBox="1"/>
          <p:nvPr/>
        </p:nvSpPr>
        <p:spPr>
          <a:xfrm>
            <a:off x="2925948" y="283238"/>
            <a:ext cx="83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1" name="Google Shape;331;p35"/>
          <p:cNvSpPr txBox="1"/>
          <p:nvPr/>
        </p:nvSpPr>
        <p:spPr>
          <a:xfrm>
            <a:off x="3894172" y="283238"/>
            <a:ext cx="109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2" name="Google Shape;332;p35"/>
          <p:cNvSpPr txBox="1"/>
          <p:nvPr/>
        </p:nvSpPr>
        <p:spPr>
          <a:xfrm>
            <a:off x="5144026" y="283238"/>
            <a:ext cx="106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3" name="Google Shape;333;p35"/>
          <p:cNvSpPr txBox="1"/>
          <p:nvPr/>
        </p:nvSpPr>
        <p:spPr>
          <a:xfrm>
            <a:off x="148572" y="639313"/>
            <a:ext cx="736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4" name="Google Shape;334;p35"/>
          <p:cNvSpPr txBox="1"/>
          <p:nvPr/>
        </p:nvSpPr>
        <p:spPr>
          <a:xfrm>
            <a:off x="242836" y="4610100"/>
            <a:ext cx="261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335" name="Google Shape;3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9413"/>
            <a:ext cx="8839201" cy="3269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/>
          <p:nvPr/>
        </p:nvSpPr>
        <p:spPr>
          <a:xfrm>
            <a:off x="457200" y="3657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3200"/>
              <a:buFont typeface="Arial Black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457190" y="38403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Time Series Models Leveraged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43" name="Google Shape;343;p36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6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CPI's own history beat cross-sectional macro features?</a:t>
            </a:r>
            <a:endParaRPr b="1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6"/>
          <p:cNvSpPr/>
          <p:nvPr/>
        </p:nvSpPr>
        <p:spPr>
          <a:xfrm>
            <a:off x="457200" y="1325880"/>
            <a:ext cx="2651760" cy="301752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6"/>
          <p:cNvSpPr/>
          <p:nvPr/>
        </p:nvSpPr>
        <p:spPr>
          <a:xfrm>
            <a:off x="594360" y="14630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ARIMA (3,2,1)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6"/>
          <p:cNvSpPr/>
          <p:nvPr/>
        </p:nvSpPr>
        <p:spPr>
          <a:xfrm>
            <a:off x="594360" y="171907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Pure Autoregressive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594360" y="1920240"/>
            <a:ext cx="237744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6"/>
          <p:cNvSpPr/>
          <p:nvPr/>
        </p:nvSpPr>
        <p:spPr>
          <a:xfrm>
            <a:off x="594360" y="2011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Uses only CPI's own historical values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6"/>
          <p:cNvSpPr/>
          <p:nvPr/>
        </p:nvSpPr>
        <p:spPr>
          <a:xfrm>
            <a:off x="594360" y="23317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AR(3): 3 past values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594360" y="253288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Integrated (2): differencing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594360" y="27340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MA(1): 1 forecast error lag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594360" y="2935224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AIC-selected order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6"/>
          <p:cNvSpPr/>
          <p:nvPr/>
        </p:nvSpPr>
        <p:spPr>
          <a:xfrm>
            <a:off x="594360" y="3200400"/>
            <a:ext cx="2377440" cy="7315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6"/>
          <p:cNvSpPr/>
          <p:nvPr/>
        </p:nvSpPr>
        <p:spPr>
          <a:xfrm>
            <a:off x="594360" y="32735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6"/>
          <p:cNvSpPr/>
          <p:nvPr/>
        </p:nvSpPr>
        <p:spPr>
          <a:xfrm>
            <a:off x="594360" y="3474720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RMSE: 8.74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594360" y="36758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594360" y="40690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3291840" y="1325880"/>
            <a:ext cx="2651760" cy="301752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4D4D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3429000" y="14630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ARIMAX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3429000" y="171907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AR + Exogenous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3429000" y="1920240"/>
            <a:ext cx="2377440" cy="1828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3429000" y="2011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ARIMA structure + macro predictors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3429000" y="23317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Combines AR dynamics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3429000" y="253288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with exogenous variables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3429000" y="27340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Hybrid approach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3429000" y="2935224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Not implemented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3429000" y="3200400"/>
            <a:ext cx="2377440" cy="7315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3429000" y="32735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3486800" y="3474736"/>
            <a:ext cx="23775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RMSE: </a:t>
            </a:r>
            <a:r>
              <a:rPr lang="en" sz="1000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sz="1000">
              <a:solidFill>
                <a:srgbClr val="E5E5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E5E5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3429000" y="40690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SKIPPED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6126480" y="1325880"/>
            <a:ext cx="2651760" cy="301752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9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6"/>
          <p:cNvSpPr/>
          <p:nvPr/>
        </p:nvSpPr>
        <p:spPr>
          <a:xfrm>
            <a:off x="6263640" y="14630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6263640" y="171907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Deep Learning RNN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6263640" y="1920240"/>
            <a:ext cx="2377440" cy="18288"/>
          </a:xfrm>
          <a:prstGeom prst="rect">
            <a:avLst/>
          </a:prstGeom>
          <a:solidFill>
            <a:srgbClr val="9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6"/>
          <p:cNvSpPr/>
          <p:nvPr/>
        </p:nvSpPr>
        <p:spPr>
          <a:xfrm>
            <a:off x="6263640" y="2011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Neural net capturing non-linear patterns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6263640" y="23317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2 layers, 128 units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6263640" y="253288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10-step sequences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6263640" y="27340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20% dropout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6263640" y="2935224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• Lion + Cosine LR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6263640" y="3200400"/>
            <a:ext cx="2377440" cy="73152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6263640" y="327355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6263640" y="3474720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RMSE: 0.556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6263640" y="40690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CC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9FCC00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INSIGHT: LSTM competitive (0.556 RMSE), but regression models won (LASSO: 0.379)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/>
          <p:nvPr/>
        </p:nvSpPr>
        <p:spPr>
          <a:xfrm>
            <a:off x="457200" y="18286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3200"/>
              <a:buFont typeface="Arial Black"/>
              <a:buNone/>
            </a:pPr>
            <a:r>
              <a:t/>
            </a:r>
            <a:endParaRPr i="0" sz="32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457190" y="20108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 Advancements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457200" y="658348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457200" y="7772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State-of-the-art techniques for LSTM training</a:t>
            </a:r>
            <a:endParaRPr b="1" sz="1200" u="none" cap="none" strike="noStrike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457200" y="1142980"/>
            <a:ext cx="4023300" cy="1920300"/>
          </a:xfrm>
          <a:prstGeom prst="rect">
            <a:avLst/>
          </a:prstGeom>
          <a:solidFill>
            <a:srgbClr val="2D2D2D"/>
          </a:solidFill>
          <a:ln cap="flat" cmpd="sng" w="381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7" name="Google Shape;397;p37"/>
          <p:cNvSpPr/>
          <p:nvPr/>
        </p:nvSpPr>
        <p:spPr>
          <a:xfrm>
            <a:off x="640080" y="12801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LION OPTIMIZER</a:t>
            </a:r>
            <a:endParaRPr i="0" sz="16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640080" y="1513705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" sz="900" u="none" cap="none" strike="noStrike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EvoLved Sign Momentum</a:t>
            </a:r>
            <a:endParaRPr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640080" y="1783055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State-of-the-art optimizer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Sign-based momentum updates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Advantages: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• More memory efficient than Adam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• Superior generalization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• Faster convergence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600"/>
              <a:buFont typeface="Calibri"/>
              <a:buNone/>
            </a:pPr>
            <a:r>
              <a:t/>
            </a:r>
            <a:endParaRPr i="0" sz="6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0" name="Google Shape;400;p37"/>
          <p:cNvSpPr/>
          <p:nvPr/>
        </p:nvSpPr>
        <p:spPr>
          <a:xfrm>
            <a:off x="4663440" y="1142980"/>
            <a:ext cx="4023300" cy="1920300"/>
          </a:xfrm>
          <a:prstGeom prst="rect">
            <a:avLst/>
          </a:prstGeom>
          <a:solidFill>
            <a:srgbClr val="2D2D2D"/>
          </a:solidFill>
          <a:ln cap="flat" cmpd="sng" w="381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1" name="Google Shape;401;p37"/>
          <p:cNvSpPr/>
          <p:nvPr/>
        </p:nvSpPr>
        <p:spPr>
          <a:xfrm>
            <a:off x="4846320" y="12801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COSINE ANNEALING</a:t>
            </a:r>
            <a:endParaRPr i="0" sz="16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4846320" y="1481305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" sz="900" u="none" cap="none" strike="noStrike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Rate Scheduling</a:t>
            </a:r>
            <a:endParaRPr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4846320" y="1783055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Smooth LR decay via cosine curve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No abrupt drops → stable training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Schedule: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 LR: 0.001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Final LR: 0.000001 (1000× drop)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Merriweather"/>
                <a:ea typeface="Merriweather"/>
                <a:cs typeface="Merriweather"/>
                <a:sym typeface="Merriweather"/>
              </a:rPr>
              <a:t>T_max: 100 epochs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Benefit: </a:t>
            </a:r>
            <a:r>
              <a:rPr lang="en" sz="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i="0" lang="en" sz="900" u="none" cap="none" strike="noStrike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Escapes local minima</a:t>
            </a:r>
            <a:endParaRPr i="0" sz="9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457200" y="3154650"/>
            <a:ext cx="8229600" cy="18618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640080" y="3291820"/>
            <a:ext cx="786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PROGRESSION</a:t>
            </a:r>
            <a:endParaRPr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406" name="Google Shape;406;p37"/>
          <p:cNvGraphicFramePr/>
          <p:nvPr/>
        </p:nvGraphicFramePr>
        <p:xfrm>
          <a:off x="640080" y="3566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{6C803DC5-9E38-4509-BD79-62C57E87A996}</a:tableStyleId>
              </a:tblPr>
              <a:tblGrid>
                <a:gridCol w="1965950"/>
                <a:gridCol w="1965950"/>
                <a:gridCol w="1965950"/>
                <a:gridCol w="1965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EPOCH</a:t>
                      </a:r>
                      <a:endParaRPr sz="10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LOSS</a:t>
                      </a:r>
                      <a:endParaRPr sz="10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LEARNING RATE</a:t>
                      </a:r>
                      <a:endParaRPr sz="10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STATUS</a:t>
                      </a:r>
                      <a:endParaRPr sz="10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0.0461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0.000905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Early - High LR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40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0.0132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0.000655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Mid - Decreasing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60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0.0060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0.000346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Converging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80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0.0016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0.000096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Fine-tuning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100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0.0011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0.000001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✓ Converged</a:t>
                      </a:r>
                      <a:endParaRPr sz="9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p37"/>
          <p:cNvSpPr txBox="1"/>
          <p:nvPr/>
        </p:nvSpPr>
        <p:spPr>
          <a:xfrm>
            <a:off x="2808325" y="2186263"/>
            <a:ext cx="1168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Final training loss: </a:t>
            </a:r>
            <a:endParaRPr sz="900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600"/>
              <a:buFont typeface="Calibri"/>
              <a:buNone/>
            </a:pPr>
            <a:r>
              <a:rPr b="1" lang="en" sz="13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0.0011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/>
        </p:nvSpPr>
        <p:spPr>
          <a:xfrm>
            <a:off x="242836" y="309563"/>
            <a:ext cx="95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13" name="Google Shape;413;p38"/>
          <p:cNvSpPr txBox="1"/>
          <p:nvPr/>
        </p:nvSpPr>
        <p:spPr>
          <a:xfrm>
            <a:off x="2925948" y="283238"/>
            <a:ext cx="83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14" name="Google Shape;414;p38"/>
          <p:cNvSpPr txBox="1"/>
          <p:nvPr/>
        </p:nvSpPr>
        <p:spPr>
          <a:xfrm>
            <a:off x="3894172" y="283238"/>
            <a:ext cx="109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15" name="Google Shape;415;p38"/>
          <p:cNvSpPr txBox="1"/>
          <p:nvPr/>
        </p:nvSpPr>
        <p:spPr>
          <a:xfrm>
            <a:off x="5144026" y="283238"/>
            <a:ext cx="106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16" name="Google Shape;416;p38"/>
          <p:cNvSpPr txBox="1"/>
          <p:nvPr/>
        </p:nvSpPr>
        <p:spPr>
          <a:xfrm>
            <a:off x="148572" y="639313"/>
            <a:ext cx="736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17" name="Google Shape;417;p38"/>
          <p:cNvSpPr txBox="1"/>
          <p:nvPr/>
        </p:nvSpPr>
        <p:spPr>
          <a:xfrm>
            <a:off x="242836" y="4610100"/>
            <a:ext cx="261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418" name="Google Shape;4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5400"/>
            <a:ext cx="8839198" cy="2714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"/>
          <p:cNvSpPr/>
          <p:nvPr/>
        </p:nvSpPr>
        <p:spPr>
          <a:xfrm>
            <a:off x="457200" y="23876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3200"/>
              <a:buFont typeface="Arial Black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9"/>
          <p:cNvSpPr/>
          <p:nvPr/>
        </p:nvSpPr>
        <p:spPr>
          <a:xfrm>
            <a:off x="457190" y="25698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 Models - The Winners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457200" y="714248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9"/>
          <p:cNvSpPr/>
          <p:nvPr/>
        </p:nvSpPr>
        <p:spPr>
          <a:xfrm>
            <a:off x="457200" y="8331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Cross-sectional macro features dominate pure time series approaches</a:t>
            </a:r>
            <a:endParaRPr b="1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8" name="Google Shape;428;p39"/>
          <p:cNvGraphicFramePr/>
          <p:nvPr/>
        </p:nvGraphicFramePr>
        <p:xfrm>
          <a:off x="457200" y="1137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{6C803DC5-9E38-4509-BD79-62C57E87A996}</a:tableStyleId>
              </a:tblPr>
              <a:tblGrid>
                <a:gridCol w="1223450"/>
                <a:gridCol w="1519750"/>
                <a:gridCol w="1847850"/>
                <a:gridCol w="1509175"/>
                <a:gridCol w="2129375"/>
              </a:tblGrid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RANK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LASSO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L1 Regularization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0.379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0.297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Quantile Reg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Distribution-free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0.473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0.382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Ridge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L2 Regularization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0.492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0.408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ElasticNet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L1 + L2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0.420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NG-Boost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Probabilistic GB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0.525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0.429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 Boost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Tree Ensemble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0.454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3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Bagged Trees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0.590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0.492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39"/>
          <p:cNvSpPr/>
          <p:nvPr/>
        </p:nvSpPr>
        <p:spPr>
          <a:xfrm>
            <a:off x="457200" y="1381750"/>
            <a:ext cx="8229600" cy="246900"/>
          </a:xfrm>
          <a:prstGeom prst="rect">
            <a:avLst/>
          </a:prstGeom>
          <a:solidFill>
            <a:srgbClr val="C1FF0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9"/>
          <p:cNvSpPr/>
          <p:nvPr/>
        </p:nvSpPr>
        <p:spPr>
          <a:xfrm>
            <a:off x="457200" y="3164840"/>
            <a:ext cx="8229600" cy="13716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9"/>
          <p:cNvSpPr/>
          <p:nvPr/>
        </p:nvSpPr>
        <p:spPr>
          <a:xfrm>
            <a:off x="640080" y="3302000"/>
            <a:ext cx="786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MODEL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731520" y="3576320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2011680" y="357632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L1 penalty → sparse coefficients → automatic feature selection → best RMSE (0.379)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9"/>
          <p:cNvSpPr/>
          <p:nvPr/>
        </p:nvSpPr>
        <p:spPr>
          <a:xfrm>
            <a:off x="731520" y="3850640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Quantile Reg: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2011680" y="385064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Predicts 5th, 50th, 95th percentiles → 90.07% coverage achieved (target: 90%)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731520" y="4124960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NG-Boost: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2011680" y="412496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Probabilistic forecasts with uncertainty (σ=0.116) → natural gradient boosting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457200" y="4627880"/>
            <a:ext cx="8229600" cy="3657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9"/>
          <p:cNvSpPr/>
          <p:nvPr/>
        </p:nvSpPr>
        <p:spPr>
          <a:xfrm>
            <a:off x="640080" y="4719320"/>
            <a:ext cx="786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CONCLUSION: Regularization critical — LASSO/Ridge/ElasticNet all outperformed baselines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/>
          <p:nvPr/>
        </p:nvSpPr>
        <p:spPr>
          <a:xfrm>
            <a:off x="457190" y="38403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Loss Functions &amp; Statistical Tests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0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Domain-specific objectives beyond standard MSE</a:t>
            </a:r>
            <a:endParaRPr b="1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457200" y="1325880"/>
            <a:ext cx="4023360" cy="132588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0"/>
          <p:cNvSpPr/>
          <p:nvPr/>
        </p:nvSpPr>
        <p:spPr>
          <a:xfrm>
            <a:off x="592180" y="13991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" sz="1300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symmetric Huber 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592180" y="1714522"/>
            <a:ext cx="365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Rationale: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Over-predicting inflation worse than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under-predicting (policy implications)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t/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Config: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δ=1.0, asymmetry=1.5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in: </a:t>
            </a:r>
            <a:r>
              <a:rPr b="0" i="0" lang="en" sz="9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LSTM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4663440" y="1325880"/>
            <a:ext cx="4023360" cy="132588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0"/>
          <p:cNvSpPr/>
          <p:nvPr/>
        </p:nvSpPr>
        <p:spPr>
          <a:xfrm>
            <a:off x="4787820" y="13991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Pinball (Quantile) 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0"/>
          <p:cNvSpPr/>
          <p:nvPr/>
        </p:nvSpPr>
        <p:spPr>
          <a:xfrm>
            <a:off x="4846325" y="16231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Generate prediction intervals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Quantiles: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Q=0.05, 0.50, 0.95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1" i="0" lang="en" sz="10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90.07% coverage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0"/>
          <p:cNvSpPr/>
          <p:nvPr/>
        </p:nvSpPr>
        <p:spPr>
          <a:xfrm>
            <a:off x="640080" y="288036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400"/>
              <a:buFont typeface="Calibri"/>
              <a:buNone/>
            </a:pPr>
            <a:r>
              <a:rPr b="1" i="0" lang="en" sz="1400" u="sng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DIEBOLD-MARIANO TEST</a:t>
            </a:r>
            <a:endParaRPr b="0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640080" y="3154680"/>
            <a:ext cx="7863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Statistical comparison of forecast accuracy (vs Ridge baseline)</a:t>
            </a:r>
            <a:endParaRPr b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7" name="Google Shape;457;p40"/>
          <p:cNvGraphicFramePr/>
          <p:nvPr/>
        </p:nvGraphicFramePr>
        <p:xfrm>
          <a:off x="640080" y="338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{6C803DC5-9E38-4509-BD79-62C57E87A996}</a:tableStyleId>
              </a:tblPr>
              <a:tblGrid>
                <a:gridCol w="1965950"/>
                <a:gridCol w="1965950"/>
                <a:gridCol w="1965950"/>
              </a:tblGrid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DM STAT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p-value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FF00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LASSO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E5E5E5"/>
                          </a:solidFill>
                        </a:rPr>
                        <a:t>-</a:t>
                      </a: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6.63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0.0001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ElasticNet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-3.36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0.0010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-2.62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0.0097 ***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 Boost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-1.20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0.2310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</a:tbl>
          </a:graphicData>
        </a:graphic>
      </p:graphicFrame>
      <p:sp>
        <p:nvSpPr>
          <p:cNvPr id="458" name="Google Shape;458;p40"/>
          <p:cNvSpPr/>
          <p:nvPr/>
        </p:nvSpPr>
        <p:spPr>
          <a:xfrm>
            <a:off x="716705" y="4712590"/>
            <a:ext cx="7863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Negative DM = Better | Positive DM = Worse | *** = p &lt; 0.01 (highly significant)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1"/>
          <p:cNvSpPr/>
          <p:nvPr/>
        </p:nvSpPr>
        <p:spPr>
          <a:xfrm>
            <a:off x="457190" y="38403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Final Results &amp; Key Insights</a:t>
            </a:r>
            <a:endParaRPr i="0" sz="2200" u="none" cap="none" strike="noStrike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1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1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 models, 21 years of data, 1,107 weekly observations</a:t>
            </a:r>
            <a:endParaRPr b="1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457200" y="1247393"/>
            <a:ext cx="8229600" cy="2742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640080" y="1311401"/>
            <a:ext cx="7863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TOP 5 MODELS (by RMSE)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9" name="Google Shape;469;p41"/>
          <p:cNvGraphicFramePr/>
          <p:nvPr/>
        </p:nvGraphicFramePr>
        <p:xfrm>
          <a:off x="457200" y="1567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{6C803DC5-9E38-4509-BD79-62C57E87A996}</a:tableStyleId>
              </a:tblPr>
              <a:tblGrid>
                <a:gridCol w="1371600"/>
                <a:gridCol w="1371600"/>
                <a:gridCol w="1371600"/>
                <a:gridCol w="1794925"/>
                <a:gridCol w="2319875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FF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C1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FF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C1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FF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C1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FF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C1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FF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C1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STRENGTH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D4D4D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LASSO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selection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Quantile Reg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90.07% coverage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Ridge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shrinkage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ElasticNet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Balanced L1+L2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NG-Boost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5E5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E5E5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Uncertainty σ=0.116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D4D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41"/>
          <p:cNvSpPr/>
          <p:nvPr/>
        </p:nvSpPr>
        <p:spPr>
          <a:xfrm>
            <a:off x="457200" y="1803538"/>
            <a:ext cx="8229600" cy="219600"/>
          </a:xfrm>
          <a:prstGeom prst="rect">
            <a:avLst/>
          </a:prstGeom>
          <a:solidFill>
            <a:srgbClr val="C1FF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457200" y="3012950"/>
            <a:ext cx="8229600" cy="2559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1"/>
          <p:cNvSpPr/>
          <p:nvPr/>
        </p:nvSpPr>
        <p:spPr>
          <a:xfrm>
            <a:off x="640080" y="3076958"/>
            <a:ext cx="7863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594360" y="3364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822960" y="336499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LASSO dominated: 0.379 RMSE via L1 feature selection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594360" y="3657600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1"/>
          <p:cNvSpPr/>
          <p:nvPr/>
        </p:nvSpPr>
        <p:spPr>
          <a:xfrm>
            <a:off x="822960" y="3657600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Regression &gt;&gt; Time Series: All beat ARIMA (8.74 RMSE) by massive margins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457200" y="3904488"/>
            <a:ext cx="8229600" cy="256032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594360" y="3950208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1"/>
          <p:cNvSpPr/>
          <p:nvPr/>
        </p:nvSpPr>
        <p:spPr>
          <a:xfrm>
            <a:off x="822960" y="3950208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Advanced features: STL added 15+ temporal; 4 structural breaks detected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1"/>
          <p:cNvSpPr/>
          <p:nvPr/>
        </p:nvSpPr>
        <p:spPr>
          <a:xfrm>
            <a:off x="457200" y="4197096"/>
            <a:ext cx="8229600" cy="256032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1"/>
          <p:cNvSpPr/>
          <p:nvPr/>
        </p:nvSpPr>
        <p:spPr>
          <a:xfrm>
            <a:off x="594360" y="4242816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822960" y="4242816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Causality validated: VIX, L</a:t>
            </a:r>
            <a:r>
              <a:rPr lang="en" sz="900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ag CPI,Retail Prices, </a:t>
            </a: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Oil, Gasoline, Treasuries confirmed as predictors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457200" y="4489704"/>
            <a:ext cx="8229600" cy="256032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594360" y="4535424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FF00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C1FF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1"/>
          <p:cNvSpPr/>
          <p:nvPr/>
        </p:nvSpPr>
        <p:spPr>
          <a:xfrm>
            <a:off x="822960" y="4535424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5E5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E5E5E5"/>
                </a:solidFill>
                <a:latin typeface="Calibri"/>
                <a:ea typeface="Calibri"/>
                <a:cs typeface="Calibri"/>
                <a:sym typeface="Calibri"/>
              </a:rPr>
              <a:t>Uncertainty quantified: Quantile (90.07% coverage), NG-Boost (σ=0.116)</a:t>
            </a:r>
            <a:endParaRPr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457200" y="4846320"/>
            <a:ext cx="8229600" cy="4572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/>
          <p:cNvSpPr txBox="1"/>
          <p:nvPr/>
        </p:nvSpPr>
        <p:spPr>
          <a:xfrm>
            <a:off x="242836" y="309563"/>
            <a:ext cx="95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94" name="Google Shape;494;p42"/>
          <p:cNvSpPr txBox="1"/>
          <p:nvPr/>
        </p:nvSpPr>
        <p:spPr>
          <a:xfrm>
            <a:off x="2925948" y="283238"/>
            <a:ext cx="83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95" name="Google Shape;495;p42"/>
          <p:cNvSpPr txBox="1"/>
          <p:nvPr/>
        </p:nvSpPr>
        <p:spPr>
          <a:xfrm>
            <a:off x="3894172" y="283238"/>
            <a:ext cx="109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96" name="Google Shape;496;p42"/>
          <p:cNvSpPr txBox="1"/>
          <p:nvPr/>
        </p:nvSpPr>
        <p:spPr>
          <a:xfrm>
            <a:off x="5144026" y="283238"/>
            <a:ext cx="106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97" name="Google Shape;497;p42"/>
          <p:cNvSpPr txBox="1"/>
          <p:nvPr/>
        </p:nvSpPr>
        <p:spPr>
          <a:xfrm>
            <a:off x="148572" y="639313"/>
            <a:ext cx="736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98" name="Google Shape;498;p42"/>
          <p:cNvSpPr txBox="1"/>
          <p:nvPr/>
        </p:nvSpPr>
        <p:spPr>
          <a:xfrm>
            <a:off x="242836" y="4610100"/>
            <a:ext cx="261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499" name="Google Shape;4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550" y="51325"/>
            <a:ext cx="7584651" cy="504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/>
        </p:nvSpPr>
        <p:spPr>
          <a:xfrm>
            <a:off x="242836" y="309563"/>
            <a:ext cx="95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05" name="Google Shape;505;p43"/>
          <p:cNvSpPr txBox="1"/>
          <p:nvPr/>
        </p:nvSpPr>
        <p:spPr>
          <a:xfrm>
            <a:off x="2925948" y="283238"/>
            <a:ext cx="83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06" name="Google Shape;506;p43"/>
          <p:cNvSpPr txBox="1"/>
          <p:nvPr/>
        </p:nvSpPr>
        <p:spPr>
          <a:xfrm>
            <a:off x="3894172" y="283238"/>
            <a:ext cx="109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07" name="Google Shape;507;p43"/>
          <p:cNvSpPr txBox="1"/>
          <p:nvPr/>
        </p:nvSpPr>
        <p:spPr>
          <a:xfrm>
            <a:off x="5144026" y="283238"/>
            <a:ext cx="106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08" name="Google Shape;508;p43"/>
          <p:cNvSpPr txBox="1"/>
          <p:nvPr/>
        </p:nvSpPr>
        <p:spPr>
          <a:xfrm>
            <a:off x="302885" y="530225"/>
            <a:ext cx="736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09" name="Google Shape;509;p43"/>
          <p:cNvSpPr txBox="1"/>
          <p:nvPr/>
        </p:nvSpPr>
        <p:spPr>
          <a:xfrm>
            <a:off x="397149" y="4501013"/>
            <a:ext cx="261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611513" y="732161"/>
            <a:ext cx="8229600" cy="27300"/>
          </a:xfrm>
          <a:prstGeom prst="rect">
            <a:avLst/>
          </a:prstGeom>
          <a:solidFill>
            <a:srgbClr val="C1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1" name="Google Shape;511;p43"/>
          <p:cNvSpPr txBox="1"/>
          <p:nvPr/>
        </p:nvSpPr>
        <p:spPr>
          <a:xfrm>
            <a:off x="611525" y="176680"/>
            <a:ext cx="41475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C1FF00"/>
                </a:solidFill>
                <a:latin typeface="Merriweather"/>
                <a:ea typeface="Merriweather"/>
                <a:cs typeface="Merriweather"/>
                <a:sym typeface="Merriweather"/>
              </a:rPr>
              <a:t>Contributions</a:t>
            </a:r>
            <a:endParaRPr sz="2200">
              <a:solidFill>
                <a:srgbClr val="C1FF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2" name="Google Shape;512;p43"/>
          <p:cNvSpPr/>
          <p:nvPr/>
        </p:nvSpPr>
        <p:spPr>
          <a:xfrm>
            <a:off x="467863" y="849338"/>
            <a:ext cx="2612400" cy="20019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Time Series Analysis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LSTM modelling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1645113" y="2941113"/>
            <a:ext cx="2612400" cy="20019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Data Exploration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StreamLit Visuvalizations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4843363" y="2941113"/>
            <a:ext cx="2612400" cy="20019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3290988" y="849338"/>
            <a:ext cx="2612400" cy="20019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slides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 Modelling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QA and ideation vetting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6228713" y="846950"/>
            <a:ext cx="2612400" cy="2001900"/>
          </a:xfrm>
          <a:prstGeom prst="rect">
            <a:avLst/>
          </a:prstGeom>
          <a:solidFill>
            <a:srgbClr val="2D2D2D"/>
          </a:solidFill>
          <a:ln cap="flat" cmpd="sng" w="25400">
            <a:solidFill>
              <a:srgbClr val="C1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Formulation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Data Extraction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AutoNum type="arabicPeriod"/>
            </a:pPr>
            <a:r>
              <a:rPr lang="en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Causality Analysis</a:t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479713" y="853688"/>
            <a:ext cx="2588700" cy="306600"/>
          </a:xfrm>
          <a:prstGeom prst="rect">
            <a:avLst/>
          </a:prstGeom>
          <a:solidFill>
            <a:srgbClr val="C1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4855213" y="2941113"/>
            <a:ext cx="2588700" cy="306600"/>
          </a:xfrm>
          <a:prstGeom prst="rect">
            <a:avLst/>
          </a:prstGeom>
          <a:solidFill>
            <a:srgbClr val="C1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1656963" y="2941113"/>
            <a:ext cx="2588700" cy="306600"/>
          </a:xfrm>
          <a:prstGeom prst="rect">
            <a:avLst/>
          </a:prstGeom>
          <a:solidFill>
            <a:srgbClr val="C1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3302838" y="853688"/>
            <a:ext cx="2588700" cy="306600"/>
          </a:xfrm>
          <a:prstGeom prst="rect">
            <a:avLst/>
          </a:prstGeom>
          <a:solidFill>
            <a:srgbClr val="C1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6240563" y="853688"/>
            <a:ext cx="2588700" cy="306600"/>
          </a:xfrm>
          <a:prstGeom prst="rect">
            <a:avLst/>
          </a:prstGeom>
          <a:solidFill>
            <a:srgbClr val="C1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2" name="Google Shape;522;p43"/>
          <p:cNvSpPr txBox="1"/>
          <p:nvPr/>
        </p:nvSpPr>
        <p:spPr>
          <a:xfrm>
            <a:off x="548863" y="805788"/>
            <a:ext cx="241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Anfas Ahammed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3" name="Google Shape;523;p43"/>
          <p:cNvSpPr txBox="1"/>
          <p:nvPr/>
        </p:nvSpPr>
        <p:spPr>
          <a:xfrm>
            <a:off x="3242838" y="805788"/>
            <a:ext cx="270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 Srinikethan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1656963" y="2897963"/>
            <a:ext cx="241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Krishnanunni U J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5" name="Google Shape;525;p43"/>
          <p:cNvSpPr txBox="1"/>
          <p:nvPr/>
        </p:nvSpPr>
        <p:spPr>
          <a:xfrm>
            <a:off x="6331475" y="805809"/>
            <a:ext cx="24168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Sai Ganesh S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6" name="Google Shape;526;p43"/>
          <p:cNvSpPr txBox="1"/>
          <p:nvPr/>
        </p:nvSpPr>
        <p:spPr>
          <a:xfrm>
            <a:off x="4651788" y="2897963"/>
            <a:ext cx="30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Muhammed Salman</a:t>
            </a:r>
            <a:endParaRPr b="1" sz="16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27" name="Google Shape;527;p43"/>
          <p:cNvSpPr txBox="1"/>
          <p:nvPr/>
        </p:nvSpPr>
        <p:spPr>
          <a:xfrm>
            <a:off x="4991575" y="3423250"/>
            <a:ext cx="22131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1.Fit different types of    regression models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2.Statistical test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Result Interpretation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"/>
          <p:cNvSpPr txBox="1"/>
          <p:nvPr/>
        </p:nvSpPr>
        <p:spPr>
          <a:xfrm>
            <a:off x="242836" y="309563"/>
            <a:ext cx="95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33" name="Google Shape;533;p44"/>
          <p:cNvSpPr txBox="1"/>
          <p:nvPr/>
        </p:nvSpPr>
        <p:spPr>
          <a:xfrm>
            <a:off x="2925948" y="283238"/>
            <a:ext cx="839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34" name="Google Shape;534;p44"/>
          <p:cNvSpPr txBox="1"/>
          <p:nvPr/>
        </p:nvSpPr>
        <p:spPr>
          <a:xfrm>
            <a:off x="3894172" y="283238"/>
            <a:ext cx="109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35" name="Google Shape;535;p44"/>
          <p:cNvSpPr txBox="1"/>
          <p:nvPr/>
        </p:nvSpPr>
        <p:spPr>
          <a:xfrm>
            <a:off x="5144026" y="283238"/>
            <a:ext cx="106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36" name="Google Shape;536;p44"/>
          <p:cNvSpPr txBox="1"/>
          <p:nvPr/>
        </p:nvSpPr>
        <p:spPr>
          <a:xfrm>
            <a:off x="148572" y="639313"/>
            <a:ext cx="7362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37" name="Google Shape;537;p44"/>
          <p:cNvSpPr/>
          <p:nvPr/>
        </p:nvSpPr>
        <p:spPr>
          <a:xfrm>
            <a:off x="1285061" y="747025"/>
            <a:ext cx="528015" cy="412812"/>
          </a:xfrm>
          <a:custGeom>
            <a:rect b="b" l="l" r="r" t="t"/>
            <a:pathLst>
              <a:path extrusionOk="0" h="825624" w="1056030">
                <a:moveTo>
                  <a:pt x="0" y="0"/>
                </a:moveTo>
                <a:lnTo>
                  <a:pt x="1056031" y="0"/>
                </a:lnTo>
                <a:lnTo>
                  <a:pt x="1056031" y="825624"/>
                </a:lnTo>
                <a:lnTo>
                  <a:pt x="0" y="825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8" name="Google Shape;538;p44"/>
          <p:cNvSpPr txBox="1"/>
          <p:nvPr/>
        </p:nvSpPr>
        <p:spPr>
          <a:xfrm>
            <a:off x="2003111" y="1330586"/>
            <a:ext cx="2861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AFFA01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  <a:endParaRPr sz="700"/>
          </a:p>
        </p:txBody>
      </p:sp>
      <p:sp>
        <p:nvSpPr>
          <p:cNvPr id="539" name="Google Shape;539;p44"/>
          <p:cNvSpPr txBox="1"/>
          <p:nvPr/>
        </p:nvSpPr>
        <p:spPr>
          <a:xfrm>
            <a:off x="242836" y="4610100"/>
            <a:ext cx="2612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40" name="Google Shape;540;p44"/>
          <p:cNvSpPr txBox="1"/>
          <p:nvPr/>
        </p:nvSpPr>
        <p:spPr>
          <a:xfrm>
            <a:off x="4070398" y="1330573"/>
            <a:ext cx="17769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BFBFB"/>
                </a:solidFill>
                <a:latin typeface="Anton"/>
                <a:ea typeface="Anton"/>
                <a:cs typeface="Anton"/>
                <a:sym typeface="Anton"/>
              </a:rPr>
              <a:t>YOU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